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 engine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.#\%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9EE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 score</c:v>
                  </c:pt>
                  <c:pt idx="3">
                    <c:v>False-positive rate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89.7</c:v>
                </c:pt>
                <c:pt idx="2">
                  <c:v>94.5</c:v>
                </c:pt>
                <c:pt idx="3">
                  <c:v>0</c:v>
                </c:pt>
              </c:numCache>
            </c:numRef>
          </c:val>
        </c:ser>
        <c:dLbls>
          <c:numFmt formatCode="0.#\%" sourceLinked="0"/>
          <c:txPr>
            <a:bodyPr/>
            <a:lstStyle/>
            <a:p>
              <a:pPr>
                <a:defRPr b="0" i="0" strike="noStrike" sz="1300" u="none">
                  <a:solidFill>
                    <a:srgbClr val="E9EE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2835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943600" cy="5943600"/>
          </a:xfrm>
          <a:prstGeom prst="ellipse">
            <a:avLst/>
          </a:prstGeom>
          <a:solidFill>
            <a:srgbClr val="111A3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749040" cy="3749040"/>
          </a:xfrm>
          <a:prstGeom prst="ellipse">
            <a:avLst/>
          </a:prstGeom>
          <a:solidFill>
            <a:srgbClr val="16213D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71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TIMES AI CHALLENGE · SMART CITIES / PUBLIC SAFETY / DIGITAL TRUST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94360" y="30175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Digital Public Safety Intelligence — detecting digital-arrest scams,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currency and organised fraud networks before mass victimisation occurs.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429768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77640" y="429768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429768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480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1,776 Cr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digital-arrest scams · Jan–Sep 2024 (MHA)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60520" y="4480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1.14 Million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60520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cybercrime complaints in 2023 · up 60% YoY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43800" y="4480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modules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543800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· live at fraud-shield-et.streamlit.app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Harsha Boddu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</a:t>
            </a:r>
            <a:pPr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AI for Digital Public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Industrialised fraud, reactive defence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201400" cy="1371600"/>
          </a:xfrm>
          <a:prstGeom prst="roundRect">
            <a:avLst>
              <a:gd name="adj" fmla="val 800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7335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1,776 Cr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83280" y="1581912"/>
            <a:ext cx="8092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defrauded via 'digital arrest' scams in just nine months of 2024 — fraudsters impersonating CBI, ED and Customs trap victims in psychological hostage situations over video call (MHA).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990088"/>
            <a:ext cx="11201400" cy="1371600"/>
          </a:xfrm>
          <a:prstGeom prst="roundRect">
            <a:avLst>
              <a:gd name="adj" fmla="val 800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461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83280" y="3154680"/>
            <a:ext cx="8092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year-on-year growth in cybercrime complaints — 1.14 million registered in 2023, run by fraud compounds using spoofed numbers, AI voices and fake government portals.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562856"/>
            <a:ext cx="11201400" cy="1371600"/>
          </a:xfrm>
          <a:prstGeom prst="roundRect">
            <a:avLst>
              <a:gd name="adj" fmla="val 800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188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500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83280" y="4727448"/>
            <a:ext cx="8092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FICN fakes now defeat manual detection in routine banking operations — RBI Annual Report 2025 flagged record seizures.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08076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law enforcement lacks is not evidence after the fact — it is intelligence before mass victimisation.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</a:t>
            </a:r>
            <a:pPr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AI for Digital Public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point of complaint to point of contact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46304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0F1B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REACTIVE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 transfers money, then complains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Case-by-case investigation, evidence after the fact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scripts spread faster than advisories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Counterfeits detected only at expert examination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 stay isolated across jurisdictions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 — PREDICTIVE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33172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in seconds, before the transfer happens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verdict explained — evidence citizens can see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Advisories in the citizen's own language + helpline 1930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screening at tellers, counting machines, PoS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 fused into ring-level intelligence packages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</a:t>
            </a:r>
            <a:pPr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AI for Digital Public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six converged modules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19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7190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Fraud Shield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Message/transcript verdict in seconds — hybrid rule engine + NVIDIA NIM LLM, evidence view, EN/HI/TE advisories.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173736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719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48072" y="17190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Check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22860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screening of banknotes: geometry, security thread, microprint density, serial panel — with RBI escalation policy.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47304" y="146304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1624" y="1737360"/>
            <a:ext cx="384048" cy="38404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17190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70264" y="17190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Intelligence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21624" y="228600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AI clusters victims, scammer numbers, mules and devices into rings with priority takedown targets.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4223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1422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Intelligence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709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hotspot map of complaints and FICN seizures with ranked patrol prioritisation.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38862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4160520"/>
            <a:ext cx="384048" cy="384048"/>
          </a:xfrm>
          <a:prstGeom prst="ellipse">
            <a:avLst/>
          </a:prstGeom>
          <a:solidFill>
            <a:srgbClr val="FB4D6D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414223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48072" y="41422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99432" y="4709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NCRP-style feed, rupees at risk, city and scam-type exposure — the operational picture.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47304" y="3886200"/>
            <a:ext cx="3611880" cy="2194560"/>
          </a:xfrm>
          <a:prstGeom prst="roundRect">
            <a:avLst>
              <a:gd name="adj" fmla="val 500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21624" y="416052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8375904" y="414223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70264" y="414223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21624" y="47091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120-message multilingual benchmark, adjustable threshold, confusion matrix — we measure ourselves.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</a:t>
            </a:r>
            <a:pPr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AI for Digital Public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800" dirty="0"/>
          </a:p>
        </p:txBody>
      </p:sp>
      <p:pic>
        <p:nvPicPr>
          <p:cNvPr id="5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108173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</a:t>
            </a:r>
            <a:pPr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AI for Digital Public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Fraud Shield — the wow moment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5806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detection. </a:t>
            </a:r>
            <a:pPr indent="0" marL="0">
              <a:buNone/>
            </a:pPr>
            <a:r>
              <a:rPr lang="en-US" sz="14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transparent weighted rule engine (10 signal families across English, Hindi, Telugu and romanized text) fused with an LLM second opinion — combined verdict takes the higher score.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by design. </a:t>
            </a:r>
            <a:pPr indent="0" marL="0">
              <a:buNone/>
            </a:pPr>
            <a:r>
              <a:rPr lang="en-US" sz="14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transcript is re-rendered with every trigger phrase highlighted, plus weighted signal codes (DIGITAL_ARREST +25, SECRECY +15) — evidence a citizen, an ops team or a court can read.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Actionable. </a:t>
            </a:r>
            <a:pPr indent="0" marL="0">
              <a:buNone/>
            </a:pPr>
            <a:r>
              <a:rPr lang="en-US" sz="14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in the citizen's own language with direct routing to helpline 1930 and cybercrime.gov.in.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20840" y="1554480"/>
            <a:ext cx="4892040" cy="713232"/>
          </a:xfrm>
          <a:prstGeom prst="roundRect">
            <a:avLst>
              <a:gd name="adj" fmla="val 15385"/>
            </a:avLst>
          </a:prstGeom>
          <a:solidFill>
            <a:srgbClr val="111A31"/>
          </a:solidFill>
          <a:ln w="12700">
            <a:solidFill>
              <a:srgbClr val="8A94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16459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message / call transcript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006840" y="22128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0" y="2487168"/>
            <a:ext cx="4892040" cy="713232"/>
          </a:xfrm>
          <a:prstGeom prst="roundRect">
            <a:avLst>
              <a:gd name="adj" fmla="val 15385"/>
            </a:avLst>
          </a:prstGeom>
          <a:solidFill>
            <a:srgbClr val="111A3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5786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 · 10 signal families · 4 scripts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06840" y="31455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3419856"/>
            <a:ext cx="4892040" cy="713232"/>
          </a:xfrm>
          <a:prstGeom prst="roundRect">
            <a:avLst>
              <a:gd name="adj" fmla="val 15385"/>
            </a:avLst>
          </a:prstGeom>
          <a:solidFill>
            <a:srgbClr val="111A3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351129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NIM LLM · meta/llama-3.3-70b-instruct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06840" y="40782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4352544"/>
            <a:ext cx="4892040" cy="713232"/>
          </a:xfrm>
          <a:prstGeom prst="roundRect">
            <a:avLst>
              <a:gd name="adj" fmla="val 15385"/>
            </a:avLst>
          </a:prstGeom>
          <a:solidFill>
            <a:srgbClr val="111A31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444398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verdict · 0–100 + evidence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06840" y="50109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5285232"/>
            <a:ext cx="4892040" cy="713232"/>
          </a:xfrm>
          <a:prstGeom prst="roundRect">
            <a:avLst>
              <a:gd name="adj" fmla="val 15385"/>
            </a:avLst>
          </a:prstGeom>
          <a:solidFill>
            <a:srgbClr val="111A31"/>
          </a:solidFill>
          <a:ln w="12700">
            <a:solidFill>
              <a:srgbClr val="FB4D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537667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in EN / HI / TE · report via 1930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</a:t>
            </a:r>
            <a:pPr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AI for Digital Public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+ geospatial layers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6479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Check (FICN)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of any note - five visible-feature checks: geometry, resolution, security-thread band, microprint density, serial-panel contrast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tiers: consistent with genuine / escalate to manual check / withhold and report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Deployable where notes change hands: tellers, counting machines, PoS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path: CNN on RBI security features + UV/IR sensor input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783080"/>
            <a:ext cx="384048" cy="38404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76479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1764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Intelligence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hotspot map: complaint clusters sized by volume, coloured by rupees at risk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FICN seizure points overlaid - financial and physical threat on one map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patrol prioritisation: CRITICAL / HIGH / ELEVATED per district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inter-district intelligence sharing in near real time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</a:t>
            </a:r>
            <a:pPr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AI for Digital Public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rings, not isolated cases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Complaints, phone numbers, mule accounts and device fingerprints are fused into a graph — coordinated campaigns emerge as connected rings.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ring ships as an intelligence package: footprint, cities, total defrauded — and a </a:t>
            </a:r>
            <a:pPr indent="0" marL="0">
              <a:buNone/>
            </a:pPr>
            <a:r>
              <a:rPr lang="en-US" sz="1500" b="1" dirty="0">
                <a:solidFill>
                  <a:srgbClr val="FB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takedown target</a:t>
            </a:r>
            <a:pPr indent="0" marL="0">
              <a:buNone/>
            </a:pPr>
            <a:r>
              <a:rPr lang="en-US" sz="150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highest-degree infrastructure node, whose removal disrupts the most victim connections at once.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link across jurisdictions and export as court-admissible evidence.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36408" y="2258568"/>
            <a:ext cx="1280160" cy="914400"/>
          </a:xfrm>
          <a:prstGeom prst="line">
            <a:avLst/>
          </a:prstGeom>
          <a:noFill/>
          <a:ln w="15875">
            <a:solidFill>
              <a:srgbClr val="2835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16568" y="2258568"/>
            <a:ext cx="1005840" cy="822960"/>
          </a:xfrm>
          <a:prstGeom prst="line">
            <a:avLst/>
          </a:prstGeom>
          <a:noFill/>
          <a:ln w="15875">
            <a:solidFill>
              <a:srgbClr val="2835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85048" y="2258568"/>
            <a:ext cx="731520" cy="2011680"/>
          </a:xfrm>
          <a:prstGeom prst="line">
            <a:avLst/>
          </a:prstGeom>
          <a:noFill/>
          <a:ln w="15875">
            <a:solidFill>
              <a:srgbClr val="283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16568" y="2258568"/>
            <a:ext cx="594360" cy="2148840"/>
          </a:xfrm>
          <a:prstGeom prst="line">
            <a:avLst/>
          </a:prstGeom>
          <a:noFill/>
          <a:ln w="15875">
            <a:solidFill>
              <a:srgbClr val="283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16568" y="2258568"/>
            <a:ext cx="1664208" cy="1572768"/>
          </a:xfrm>
          <a:prstGeom prst="line">
            <a:avLst/>
          </a:prstGeom>
          <a:noFill/>
          <a:ln w="15875">
            <a:solidFill>
              <a:srgbClr val="2835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7379208" y="2258568"/>
            <a:ext cx="1737360" cy="0"/>
          </a:xfrm>
          <a:prstGeom prst="line">
            <a:avLst/>
          </a:prstGeom>
          <a:noFill/>
          <a:ln w="15875">
            <a:solidFill>
              <a:srgbClr val="2835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2011680"/>
            <a:ext cx="502920" cy="502920"/>
          </a:xfrm>
          <a:prstGeom prst="ellipse">
            <a:avLst/>
          </a:prstGeom>
          <a:solidFill>
            <a:srgbClr val="FB4D6D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301752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6960" y="29260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411480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0" y="4206240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07040" y="3657600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223760" y="210312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scammer number  ·  victims  ·  mule account  ·  device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66760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TARGET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</a:t>
            </a:r>
            <a:pPr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AI for Digital Public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 ourselves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 alone, on a 120-message benchmark (EN/HI/TE + romanized, incl. adversarial soft-worded cases), threshold 40: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8308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1783080"/>
            <a:ext cx="4389120" cy="1920240"/>
          </a:xfrm>
          <a:prstGeom prst="roundRect">
            <a:avLst>
              <a:gd name="adj" fmla="val 5714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false positives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9520" y="25146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genuine messages — bank credits, deliveries, personal chats — none flagged. Citizens are never punished for normal life.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3977640"/>
            <a:ext cx="4389120" cy="1920240"/>
          </a:xfrm>
          <a:prstGeom prst="roundRect">
            <a:avLst>
              <a:gd name="adj" fmla="val 5714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misses, by design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89520" y="47091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false negative is a soft-worded script with no hard keywords — exactly the residual the NVIDIA NIM LLM second-opinion layer targets.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</a:t>
            </a:r>
            <a:pPr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AI for Digital Public Safety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757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611880" cy="2880360"/>
          </a:xfrm>
          <a:prstGeom prst="roundRect">
            <a:avLst>
              <a:gd name="adj" fmla="val 381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live on Streamlit Cloud — six modules, NIM LLM verdicts, multilingual advisories, measured benchmark.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611880" cy="2880360"/>
          </a:xfrm>
          <a:prstGeom prst="roundRect">
            <a:avLst>
              <a:gd name="adj" fmla="val 381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9432" y="22402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+ IVR citizen channels, 12 regional languages, CNN counterfeit model with UV/IR input, NCRP API integration.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47304" y="1463040"/>
            <a:ext cx="3611880" cy="2880360"/>
          </a:xfrm>
          <a:prstGeom prst="roundRect">
            <a:avLst>
              <a:gd name="adj" fmla="val 3810"/>
            </a:avLst>
          </a:prstGeom>
          <a:solidFill>
            <a:srgbClr val="111A31"/>
          </a:solidFill>
          <a:ln w="12700">
            <a:solidFill>
              <a:srgbClr val="283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21624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21624" y="224028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Telecom-level live call flagging, automated MHA alert generation, cross-jurisdiction ring exports as court-admissible evidence.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11201400" cy="1371600"/>
          </a:xfrm>
          <a:prstGeom prst="roundRect">
            <a:avLst>
              <a:gd name="adj" fmla="val 8000"/>
            </a:avLst>
          </a:prstGeom>
          <a:solidFill>
            <a:srgbClr val="1621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Shield — </a:t>
            </a:r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reactive investigation to predictive neutralisation. Point of contact, not point of complaint.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2026-07-22T05:30:55Z</dcterms:created>
  <dcterms:modified xsi:type="dcterms:W3CDTF">2026-07-22T05:30:55Z</dcterms:modified>
</cp:coreProperties>
</file>